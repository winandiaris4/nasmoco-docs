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Biaya (Rp juta)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Fase 0</c:v>
                  </c:pt>
                  <c:pt idx="1">
                    <c:v>Fase 1</c:v>
                  </c:pt>
                  <c:pt idx="2">
                    <c:v>Fase 2</c:v>
                  </c:pt>
                  <c:pt idx="3">
                    <c:v>Fase 3</c:v>
                  </c:pt>
                  <c:pt idx="4">
                    <c:v>Pen Test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4.5</c:v>
                </c:pt>
                <c:pt idx="1">
                  <c:v>27</c:v>
                </c:pt>
                <c:pt idx="2">
                  <c:v>23.4</c:v>
                </c:pt>
                <c:pt idx="3">
                  <c:v>16.2</c:v>
                </c:pt>
                <c:pt idx="4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2.png"/><Relationship Id="rId4" Type="http://schemas.openxmlformats.org/officeDocument/2006/relationships/image" Target="../media/image-3-4.png"/><Relationship Id="rId5" Type="http://schemas.openxmlformats.org/officeDocument/2006/relationships/image" Target="../media/image-3-4.png"/><Relationship Id="rId6" Type="http://schemas.openxmlformats.org/officeDocument/2006/relationships/image" Target="../media/image-3-2.png"/><Relationship Id="rId7" Type="http://schemas.openxmlformats.org/officeDocument/2006/relationships/image" Target="../media/image-3-2.png"/><Relationship Id="rId8" Type="http://schemas.openxmlformats.org/officeDocument/2006/relationships/image" Target="../media/image-3-2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965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8C9"/>
                </a:solidFill>
              </a:rPr>
              <a:t>PROPOSAL &amp; PRESENTASI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2377440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Platform Website Terpusat Nasmoco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52044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</a:rPr>
              <a:t>Pemenuhan SOP Digital Asset Toyota-Astra Motor (TAM) &amp; Penguatan Kanal Digital — 22 Cabang Jawa Tengah &amp; DIY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4434840"/>
            <a:ext cx="3840480" cy="0"/>
          </a:xfrm>
          <a:prstGeom prst="line">
            <a:avLst/>
          </a:prstGeom>
          <a:noFill/>
          <a:ln w="31750">
            <a:solidFill>
              <a:srgbClr val="9C2B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8006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A8C9"/>
                </a:solidFill>
              </a:rPr>
              <a:t>Diajukan kepada 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PT New Ratna Motor (Nasmoco Group)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A8C9"/>
                </a:solidFill>
              </a:rPr>
              <a:t>Diajukan oleh 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Winamus | PT Winandi Multi Solusi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6126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C9"/>
                </a:solidFill>
              </a:rPr>
              <a:t>Juni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9C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KONTEKS PROYEK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 Bukan Proyek Marketing — Ini Proyek Compliance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14600" cy="2743200"/>
          </a:xfrm>
          <a:prstGeom prst="roundRect">
            <a:avLst>
              <a:gd name="adj" fmla="val 2545"/>
            </a:avLst>
          </a:prstGeom>
          <a:solidFill>
            <a:srgbClr val="F7F8FA"/>
          </a:solidFill>
          <a:ln/>
          <a:effectLst>
            <a:outerShdw sx="100000" sy="100000" kx="0" ky="0" algn="bl" rotWithShape="0" blurRad="88900" dist="38100" dir="5400000">
              <a:srgbClr val="1F3864">
                <a:alpha val="12000"/>
              </a:srgbClr>
            </a:outerShdw>
          </a:effectLst>
        </p:spPr>
      </p:sp>
      <p:pic>
        <p:nvPicPr>
          <p:cNvPr id="5" name="Image 0" descr="/home/claude/icons/clipboard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3332" y="2121408"/>
            <a:ext cx="585216" cy="585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3232" y="2880360"/>
            <a:ext cx="2185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864"/>
                </a:solidFill>
              </a:rPr>
              <a:t>TAM Menerbitkan SOP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13232" y="3520440"/>
            <a:ext cx="21854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Standar Digital Asset Dealer, Juni 2025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081528" y="297180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280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3319272" y="1828800"/>
            <a:ext cx="2514600" cy="2743200"/>
          </a:xfrm>
          <a:prstGeom prst="roundRect">
            <a:avLst>
              <a:gd name="adj" fmla="val 2545"/>
            </a:avLst>
          </a:prstGeom>
          <a:solidFill>
            <a:srgbClr val="F7F8FA"/>
          </a:solidFill>
          <a:ln/>
          <a:effectLst>
            <a:outerShdw sx="100000" sy="100000" kx="0" ky="0" algn="bl" rotWithShape="0" blurRad="88900" dist="38100" dir="5400000">
              <a:srgbClr val="1F3864">
                <a:alpha val="12000"/>
              </a:srgbClr>
            </a:outerShdw>
          </a:effectLst>
        </p:spPr>
      </p:sp>
      <p:pic>
        <p:nvPicPr>
          <p:cNvPr id="10" name="Image 1" descr="/home/claude/icons/building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3964" y="2121408"/>
            <a:ext cx="585216" cy="58521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83864" y="2880360"/>
            <a:ext cx="2185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864"/>
                </a:solidFill>
              </a:rPr>
              <a:t>Wajib Dipatuhi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3483864" y="3520440"/>
            <a:ext cx="21854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Seluruh dealer resmi, termasuk Nasmoco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5852160" y="297180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280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6089904" y="1828800"/>
            <a:ext cx="2514600" cy="2743200"/>
          </a:xfrm>
          <a:prstGeom prst="roundRect">
            <a:avLst>
              <a:gd name="adj" fmla="val 2545"/>
            </a:avLst>
          </a:prstGeom>
          <a:solidFill>
            <a:srgbClr val="F7F8FA"/>
          </a:solidFill>
          <a:ln/>
          <a:effectLst>
            <a:outerShdw sx="100000" sy="100000" kx="0" ky="0" algn="bl" rotWithShape="0" blurRad="88900" dist="38100" dir="5400000">
              <a:srgbClr val="1F3864">
                <a:alpha val="12000"/>
              </a:srgbClr>
            </a:outerShdw>
          </a:effectLst>
        </p:spPr>
      </p:sp>
      <p:pic>
        <p:nvPicPr>
          <p:cNvPr id="15" name="Image 2" descr="/home/claude/icons/calendar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4596" y="2121408"/>
            <a:ext cx="585216" cy="58521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254496" y="2880360"/>
            <a:ext cx="2185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864"/>
                </a:solidFill>
              </a:rPr>
              <a:t>Batas Waktu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6254496" y="3520440"/>
            <a:ext cx="21854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Kepatuhan penuh, Juni 2026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8622792" y="297180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280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Shape 14"/>
          <p:cNvSpPr/>
          <p:nvPr/>
        </p:nvSpPr>
        <p:spPr>
          <a:xfrm>
            <a:off x="8860536" y="1828800"/>
            <a:ext cx="2514600" cy="2743200"/>
          </a:xfrm>
          <a:prstGeom prst="roundRect">
            <a:avLst>
              <a:gd name="adj" fmla="val 2545"/>
            </a:avLst>
          </a:prstGeom>
          <a:solidFill>
            <a:srgbClr val="FBEFEF"/>
          </a:solidFill>
          <a:ln/>
          <a:effectLst>
            <a:outerShdw sx="100000" sy="100000" kx="0" ky="0" algn="bl" rotWithShape="0" blurRad="88900" dist="38100" dir="5400000">
              <a:srgbClr val="1F3864">
                <a:alpha val="12000"/>
              </a:srgbClr>
            </a:outerShdw>
          </a:effectLst>
        </p:spPr>
      </p:sp>
      <p:pic>
        <p:nvPicPr>
          <p:cNvPr id="20" name="Image 3" descr="/home/claude/icons/warning_r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5228" y="2121408"/>
            <a:ext cx="585216" cy="58521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025128" y="2880360"/>
            <a:ext cx="2185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864"/>
                </a:solidFill>
              </a:rPr>
              <a:t>Risiko Jika Gagal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9025128" y="3520440"/>
            <a:ext cx="21854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Teguran &amp; sanksi sesuai Dealer Agreement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548640" y="49834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33333"/>
                </a:solidFill>
              </a:rPr>
              <a:t>Audiens sesungguhnya proyek ini bukan hanya manajemen Nasmoco — tapi Toyota-Astra Motor (TAM) sebagai principal yang mengawasi kepatuhan dealer.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Winamus  |  PT Winandi Multi Solusi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9C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HASIL AUDIT INTERNAL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dari 8 Aspek SOP TAM Perlu Perbaikan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743200" cy="3840480"/>
          </a:xfrm>
          <a:prstGeom prst="roundRect">
            <a:avLst>
              <a:gd name="adj" fmla="val 2333"/>
            </a:avLst>
          </a:prstGeom>
          <a:solidFill>
            <a:srgbClr val="1F3864"/>
          </a:solidFill>
          <a:ln/>
          <a:effectLst>
            <a:outerShdw sx="100000" sy="100000" kx="0" ky="0" algn="bl" rotWithShape="0" blurRad="88900" dist="38100" dir="5400000">
              <a:srgbClr val="1F3864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2860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</a:rPr>
              <a:t>6/8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aspek standar TAM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belum terpenuhi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97280" y="4434840"/>
            <a:ext cx="1645920" cy="0"/>
          </a:xfrm>
          <a:prstGeom prst="line">
            <a:avLst/>
          </a:prstGeom>
          <a:noFill/>
          <a:ln w="25400">
            <a:solidFill>
              <a:srgbClr val="9C2B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6177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8C9"/>
                </a:solidFill>
              </a:rPr>
              <a:t>Sumber: Gap Analysis internal Nasmoco terhadap SOP Digital Asset TAM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0" y="1828800"/>
            <a:ext cx="3703320" cy="896112"/>
          </a:xfrm>
          <a:prstGeom prst="roundRect">
            <a:avLst>
              <a:gd name="adj" fmla="val 7143"/>
            </a:avLst>
          </a:prstGeom>
          <a:solidFill>
            <a:srgbClr val="F7F8FA"/>
          </a:solidFill>
          <a:ln/>
          <a:effectLst>
            <a:outerShdw sx="100000" sy="100000" kx="0" ky="0" algn="bl" rotWithShape="0" blurRad="88900" dist="38100" dir="5400000">
              <a:srgbClr val="1F3864">
                <a:alpha val="12000"/>
              </a:srgbClr>
            </a:outerShdw>
          </a:effectLst>
        </p:spPr>
      </p:sp>
      <p:pic>
        <p:nvPicPr>
          <p:cNvPr id="10" name="Image 0" descr="/home/claude/icons/check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2075688"/>
            <a:ext cx="402336" cy="40233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370832" y="1920240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</a:rPr>
              <a:t>Domain Website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00800" y="2112264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7D32"/>
                </a:solidFill>
              </a:rPr>
              <a:t>Sesuai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657600" y="2798064"/>
            <a:ext cx="3703320" cy="896112"/>
          </a:xfrm>
          <a:prstGeom prst="roundRect">
            <a:avLst>
              <a:gd name="adj" fmla="val 7143"/>
            </a:avLst>
          </a:prstGeom>
          <a:solidFill>
            <a:srgbClr val="F7F8FA"/>
          </a:solidFill>
          <a:ln/>
          <a:effectLst>
            <a:outerShdw sx="100000" sy="100000" kx="0" ky="0" algn="bl" rotWithShape="0" blurRad="88900" dist="38100" dir="5400000">
              <a:srgbClr val="1F3864">
                <a:alpha val="12000"/>
              </a:srgbClr>
            </a:outerShdw>
          </a:effectLst>
        </p:spPr>
      </p:sp>
      <p:pic>
        <p:nvPicPr>
          <p:cNvPr id="14" name="Image 1" descr="/home/claude/icons/cross_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3044952"/>
            <a:ext cx="402336" cy="40233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70832" y="2889504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</a:rPr>
              <a:t>Website Cabang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400800" y="308152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C2B2B"/>
                </a:solidFill>
              </a:rPr>
              <a:t>Gap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3657600" y="3767328"/>
            <a:ext cx="3703320" cy="896112"/>
          </a:xfrm>
          <a:prstGeom prst="roundRect">
            <a:avLst>
              <a:gd name="adj" fmla="val 7143"/>
            </a:avLst>
          </a:prstGeom>
          <a:solidFill>
            <a:srgbClr val="F7F8FA"/>
          </a:solidFill>
          <a:ln/>
          <a:effectLst>
            <a:outerShdw sx="100000" sy="100000" kx="0" ky="0" algn="bl" rotWithShape="0" blurRad="88900" dist="38100" dir="5400000">
              <a:srgbClr val="1F3864">
                <a:alpha val="12000"/>
              </a:srgbClr>
            </a:outerShdw>
          </a:effectLst>
        </p:spPr>
      </p:sp>
      <p:pic>
        <p:nvPicPr>
          <p:cNvPr id="18" name="Image 2" descr="/home/claude/icons/cross_r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4014216"/>
            <a:ext cx="402336" cy="40233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370832" y="3858768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</a:rPr>
              <a:t>Website Wiraniaga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0" y="405079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C2B2B"/>
                </a:solidFill>
              </a:rPr>
              <a:t>Gap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3657600" y="4736592"/>
            <a:ext cx="3703320" cy="896112"/>
          </a:xfrm>
          <a:prstGeom prst="roundRect">
            <a:avLst>
              <a:gd name="adj" fmla="val 7143"/>
            </a:avLst>
          </a:prstGeom>
          <a:solidFill>
            <a:srgbClr val="F7F8FA"/>
          </a:solidFill>
          <a:ln/>
          <a:effectLst>
            <a:outerShdw sx="100000" sy="100000" kx="0" ky="0" algn="bl" rotWithShape="0" blurRad="88900" dist="38100" dir="5400000">
              <a:srgbClr val="1F3864">
                <a:alpha val="12000"/>
              </a:srgbClr>
            </a:outerShdw>
          </a:effectLst>
        </p:spPr>
      </p:sp>
      <p:pic>
        <p:nvPicPr>
          <p:cNvPr id="22" name="Image 3" descr="/home/claude/icons/partial_amb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0" y="4983480"/>
            <a:ext cx="402336" cy="40233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370832" y="4828032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</a:rPr>
              <a:t>Konten Digital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6400800" y="5020056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8860B"/>
                </a:solidFill>
              </a:rPr>
              <a:t>Partial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7589520" y="1828800"/>
            <a:ext cx="3703320" cy="896112"/>
          </a:xfrm>
          <a:prstGeom prst="roundRect">
            <a:avLst>
              <a:gd name="adj" fmla="val 7143"/>
            </a:avLst>
          </a:prstGeom>
          <a:solidFill>
            <a:srgbClr val="F7F8FA"/>
          </a:solidFill>
          <a:ln/>
          <a:effectLst>
            <a:outerShdw sx="100000" sy="100000" kx="0" ky="0" algn="bl" rotWithShape="0" blurRad="88900" dist="38100" dir="5400000">
              <a:srgbClr val="1F3864">
                <a:alpha val="12000"/>
              </a:srgbClr>
            </a:outerShdw>
          </a:effectLst>
        </p:spPr>
      </p:sp>
      <p:pic>
        <p:nvPicPr>
          <p:cNvPr id="26" name="Image 4" descr="/home/claude/icons/partial_amb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2075688"/>
            <a:ext cx="402336" cy="40233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302752" y="1920240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</a:rPr>
              <a:t>Logo &amp; Branding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10332720" y="2112264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8860B"/>
                </a:solidFill>
              </a:rPr>
              <a:t>Partial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7589520" y="2798064"/>
            <a:ext cx="3703320" cy="896112"/>
          </a:xfrm>
          <a:prstGeom prst="roundRect">
            <a:avLst>
              <a:gd name="adj" fmla="val 7143"/>
            </a:avLst>
          </a:prstGeom>
          <a:solidFill>
            <a:srgbClr val="F7F8FA"/>
          </a:solidFill>
          <a:ln/>
          <a:effectLst>
            <a:outerShdw sx="100000" sy="100000" kx="0" ky="0" algn="bl" rotWithShape="0" blurRad="88900" dist="38100" dir="5400000">
              <a:srgbClr val="1F3864">
                <a:alpha val="12000"/>
              </a:srgbClr>
            </a:outerShdw>
          </a:effectLst>
        </p:spPr>
      </p:sp>
      <p:pic>
        <p:nvPicPr>
          <p:cNvPr id="30" name="Image 5" descr="/home/claude/icons/cross_r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0" y="3044952"/>
            <a:ext cx="402336" cy="402336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302752" y="2889504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</a:rPr>
              <a:t>Keamanan (MFA)</a:t>
            </a:r>
            <a:endParaRPr lang="en-US" sz="1300" dirty="0"/>
          </a:p>
        </p:txBody>
      </p:sp>
      <p:sp>
        <p:nvSpPr>
          <p:cNvPr id="32" name="Text 24"/>
          <p:cNvSpPr/>
          <p:nvPr/>
        </p:nvSpPr>
        <p:spPr>
          <a:xfrm>
            <a:off x="10332720" y="308152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C2B2B"/>
                </a:solidFill>
              </a:rPr>
              <a:t>Gap</a:t>
            </a:r>
            <a:endParaRPr lang="en-US" sz="1050" dirty="0"/>
          </a:p>
        </p:txBody>
      </p:sp>
      <p:sp>
        <p:nvSpPr>
          <p:cNvPr id="33" name="Shape 25"/>
          <p:cNvSpPr/>
          <p:nvPr/>
        </p:nvSpPr>
        <p:spPr>
          <a:xfrm>
            <a:off x="7589520" y="3767328"/>
            <a:ext cx="3703320" cy="896112"/>
          </a:xfrm>
          <a:prstGeom prst="roundRect">
            <a:avLst>
              <a:gd name="adj" fmla="val 7143"/>
            </a:avLst>
          </a:prstGeom>
          <a:solidFill>
            <a:srgbClr val="F7F8FA"/>
          </a:solidFill>
          <a:ln/>
          <a:effectLst>
            <a:outerShdw sx="100000" sy="100000" kx="0" ky="0" algn="bl" rotWithShape="0" blurRad="88900" dist="38100" dir="5400000">
              <a:srgbClr val="1F3864">
                <a:alpha val="12000"/>
              </a:srgbClr>
            </a:outerShdw>
          </a:effectLst>
        </p:spPr>
      </p:sp>
      <p:pic>
        <p:nvPicPr>
          <p:cNvPr id="34" name="Image 6" descr="/home/claude/icons/cross_r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0" y="4014216"/>
            <a:ext cx="402336" cy="402336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8302752" y="3858768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</a:rPr>
              <a:t>Cloud &amp; Hosting</a:t>
            </a:r>
            <a:endParaRPr lang="en-US" sz="1300" dirty="0"/>
          </a:p>
        </p:txBody>
      </p:sp>
      <p:sp>
        <p:nvSpPr>
          <p:cNvPr id="36" name="Text 27"/>
          <p:cNvSpPr/>
          <p:nvPr/>
        </p:nvSpPr>
        <p:spPr>
          <a:xfrm>
            <a:off x="10332720" y="405079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C2B2B"/>
                </a:solidFill>
              </a:rPr>
              <a:t>Gap</a:t>
            </a:r>
            <a:endParaRPr lang="en-US" sz="1050" dirty="0"/>
          </a:p>
        </p:txBody>
      </p:sp>
      <p:sp>
        <p:nvSpPr>
          <p:cNvPr id="37" name="Shape 28"/>
          <p:cNvSpPr/>
          <p:nvPr/>
        </p:nvSpPr>
        <p:spPr>
          <a:xfrm>
            <a:off x="7589520" y="4736592"/>
            <a:ext cx="3703320" cy="896112"/>
          </a:xfrm>
          <a:prstGeom prst="roundRect">
            <a:avLst>
              <a:gd name="adj" fmla="val 7143"/>
            </a:avLst>
          </a:prstGeom>
          <a:solidFill>
            <a:srgbClr val="F7F8FA"/>
          </a:solidFill>
          <a:ln/>
          <a:effectLst>
            <a:outerShdw sx="100000" sy="100000" kx="0" ky="0" algn="bl" rotWithShape="0" blurRad="88900" dist="38100" dir="5400000">
              <a:srgbClr val="1F3864">
                <a:alpha val="12000"/>
              </a:srgbClr>
            </a:outerShdw>
          </a:effectLst>
        </p:spPr>
      </p:sp>
      <p:pic>
        <p:nvPicPr>
          <p:cNvPr id="38" name="Image 7" descr="/home/claude/icons/cross_r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0" y="4983480"/>
            <a:ext cx="402336" cy="402336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8302752" y="4828032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</a:rPr>
              <a:t>Monitoring Lifecycle</a:t>
            </a:r>
            <a:endParaRPr lang="en-US" sz="1300" dirty="0"/>
          </a:p>
        </p:txBody>
      </p:sp>
      <p:sp>
        <p:nvSpPr>
          <p:cNvPr id="40" name="Text 30"/>
          <p:cNvSpPr/>
          <p:nvPr/>
        </p:nvSpPr>
        <p:spPr>
          <a:xfrm>
            <a:off x="10332720" y="5020056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C2B2B"/>
                </a:solidFill>
              </a:rPr>
              <a:t>Gap</a:t>
            </a:r>
            <a:endParaRPr lang="en-US" sz="1050" dirty="0"/>
          </a:p>
        </p:txBody>
      </p:sp>
      <p:sp>
        <p:nvSpPr>
          <p:cNvPr id="41" name="Text 3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Winamus  |  PT Winandi Multi Solusi</a:t>
            </a:r>
            <a:endParaRPr lang="en-US" sz="900" dirty="0"/>
          </a:p>
        </p:txBody>
      </p:sp>
      <p:sp>
        <p:nvSpPr>
          <p:cNvPr id="42" name="Text 32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9C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KONDISI DI LAPANGAN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Masalah Operasional yang Dihadapi Tim Digital Marketing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337560" cy="3383280"/>
          </a:xfrm>
          <a:prstGeom prst="roundRect">
            <a:avLst>
              <a:gd name="adj" fmla="val 1918"/>
            </a:avLst>
          </a:prstGeom>
          <a:solidFill>
            <a:srgbClr val="F7F8FA"/>
          </a:solidFill>
          <a:ln/>
          <a:effectLst>
            <a:outerShdw sx="100000" sy="100000" kx="0" ky="0" algn="bl" rotWithShape="0" blurRad="88900" dist="38100" dir="5400000">
              <a:srgbClr val="1F386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286000"/>
            <a:ext cx="777240" cy="77724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F3864">
                <a:alpha val="12000"/>
              </a:srgbClr>
            </a:outerShdw>
          </a:effectLst>
        </p:spPr>
      </p:sp>
      <p:pic>
        <p:nvPicPr>
          <p:cNvPr id="6" name="Image 0" descr="/home/claude/icons/sitemap_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450592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29184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</a:rPr>
              <a:t>Portal Tidak Seragam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84048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3333"/>
                </a:solidFill>
              </a:rPr>
              <a:t>22 cabang dan puluhan wiraniaga memiliki tampilan dan kualitas portal yang berbeda-beda.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206240" y="1965960"/>
            <a:ext cx="3337560" cy="3383280"/>
          </a:xfrm>
          <a:prstGeom prst="roundRect">
            <a:avLst>
              <a:gd name="adj" fmla="val 1918"/>
            </a:avLst>
          </a:prstGeom>
          <a:solidFill>
            <a:srgbClr val="F7F8FA"/>
          </a:solidFill>
          <a:ln/>
          <a:effectLst>
            <a:outerShdw sx="100000" sy="100000" kx="0" ky="0" algn="bl" rotWithShape="0" blurRad="88900" dist="38100" dir="5400000">
              <a:srgbClr val="1F3864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98848" y="2286000"/>
            <a:ext cx="777240" cy="77724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F3864">
                <a:alpha val="12000"/>
              </a:srgbClr>
            </a:outerShdw>
          </a:effectLst>
        </p:spPr>
      </p:sp>
      <p:pic>
        <p:nvPicPr>
          <p:cNvPr id="11" name="Image 1" descr="/home/claude/icons/tags_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450592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80560" y="329184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</a:rPr>
              <a:t>Update Harga Manual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480560" y="384048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3333"/>
                </a:solidFill>
              </a:rPr>
              <a:t>Perubahan harga satu model harus diulang manual di puluhan halaman cabang &amp; wiraniaga.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863840" y="1965960"/>
            <a:ext cx="3337560" cy="3383280"/>
          </a:xfrm>
          <a:prstGeom prst="roundRect">
            <a:avLst>
              <a:gd name="adj" fmla="val 1918"/>
            </a:avLst>
          </a:prstGeom>
          <a:solidFill>
            <a:srgbClr val="F7F8FA"/>
          </a:solidFill>
          <a:ln/>
          <a:effectLst>
            <a:outerShdw sx="100000" sy="100000" kx="0" ky="0" algn="bl" rotWithShape="0" blurRad="88900" dist="38100" dir="5400000">
              <a:srgbClr val="1F3864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156448" y="2286000"/>
            <a:ext cx="777240" cy="77724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F3864">
                <a:alpha val="12000"/>
              </a:srgbClr>
            </a:outerShdw>
          </a:effectLst>
        </p:spPr>
      </p:sp>
      <p:pic>
        <p:nvPicPr>
          <p:cNvPr id="16" name="Image 2" descr="/home/claude/icons/userclock_r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450592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38160" y="329184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</a:rPr>
              <a:t>Lead Tidak Ter-atribusi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138160" y="384048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3333"/>
                </a:solidFill>
              </a:rPr>
              <a:t>Calon pembeli berisiko tidak tersambung secara akurat ke sales atau cabang yang tepat.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Winamus  |  PT Winandi Multi Solusi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9C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SOLUSI YANG DIUSULKAN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Terpusat dengan Hierarki Tiga Tingkat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4415" cy="960120"/>
          </a:xfrm>
          <a:prstGeom prst="roundRect">
            <a:avLst>
              <a:gd name="adj" fmla="val 6667"/>
            </a:avLst>
          </a:prstGeom>
          <a:solidFill>
            <a:srgbClr val="F7F8FA"/>
          </a:solidFill>
          <a:ln/>
          <a:effectLst>
            <a:outerShdw sx="100000" sy="100000" kx="0" ky="0" algn="bl" rotWithShape="0" blurRad="88900" dist="38100" dir="5400000">
              <a:srgbClr val="1F386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965960"/>
            <a:ext cx="914400" cy="594360"/>
          </a:xfrm>
          <a:prstGeom prst="roundRect">
            <a:avLst>
              <a:gd name="adj" fmla="val 9231"/>
            </a:avLst>
          </a:prstGeom>
          <a:solidFill>
            <a:srgbClr val="1F3864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96596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LEVEL 1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828800" y="19019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</a:rPr>
              <a:t>Homepage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828800" y="22860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nasmoco.co.id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434840" y="1874520"/>
            <a:ext cx="6979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Katalog lengkap, harga OTR terkini, promo nasional, entry point seluruh cabang.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97280" y="2889504"/>
            <a:ext cx="10545775" cy="960120"/>
          </a:xfrm>
          <a:prstGeom prst="roundRect">
            <a:avLst>
              <a:gd name="adj" fmla="val 6667"/>
            </a:avLst>
          </a:prstGeom>
          <a:solidFill>
            <a:srgbClr val="F7F8FA"/>
          </a:solidFill>
          <a:ln/>
          <a:effectLst>
            <a:outerShdw sx="100000" sy="100000" kx="0" ky="0" algn="bl" rotWithShape="0" blurRad="88900" dist="38100" dir="5400000">
              <a:srgbClr val="1F3864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298448" y="3072384"/>
            <a:ext cx="914400" cy="594360"/>
          </a:xfrm>
          <a:prstGeom prst="roundRect">
            <a:avLst>
              <a:gd name="adj" fmla="val 9231"/>
            </a:avLst>
          </a:prstGeom>
          <a:solidFill>
            <a:srgbClr val="1F3864"/>
          </a:solidFill>
          <a:ln/>
        </p:spPr>
      </p:sp>
      <p:sp>
        <p:nvSpPr>
          <p:cNvPr id="12" name="Text 10"/>
          <p:cNvSpPr/>
          <p:nvPr/>
        </p:nvSpPr>
        <p:spPr>
          <a:xfrm>
            <a:off x="1298448" y="3072384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LEVEL 2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377440" y="300837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</a:rPr>
              <a:t>Halaman Cabang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377440" y="339242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nasmoco.co.id/[cabang]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83480" y="2980944"/>
            <a:ext cx="6430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Info cabang, promo lokal, harga OTR wilayah tersinkron otomatis dari pusat.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645920" y="3995928"/>
            <a:ext cx="9997135" cy="960120"/>
          </a:xfrm>
          <a:prstGeom prst="roundRect">
            <a:avLst>
              <a:gd name="adj" fmla="val 6667"/>
            </a:avLst>
          </a:prstGeom>
          <a:solidFill>
            <a:srgbClr val="F7F8FA"/>
          </a:solidFill>
          <a:ln/>
          <a:effectLst>
            <a:outerShdw sx="100000" sy="100000" kx="0" ky="0" algn="bl" rotWithShape="0" blurRad="88900" dist="38100" dir="5400000">
              <a:srgbClr val="1F3864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847088" y="4178808"/>
            <a:ext cx="914400" cy="594360"/>
          </a:xfrm>
          <a:prstGeom prst="roundRect">
            <a:avLst>
              <a:gd name="adj" fmla="val 9231"/>
            </a:avLst>
          </a:prstGeom>
          <a:solidFill>
            <a:srgbClr val="1F3864"/>
          </a:solidFill>
          <a:ln/>
        </p:spPr>
      </p:sp>
      <p:sp>
        <p:nvSpPr>
          <p:cNvPr id="18" name="Text 16"/>
          <p:cNvSpPr/>
          <p:nvPr/>
        </p:nvSpPr>
        <p:spPr>
          <a:xfrm>
            <a:off x="1847088" y="4178808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LEVEL 3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926080" y="4114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</a:rPr>
              <a:t>Halaman Sales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926080" y="449884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nasmoco.co.id/[cabang]/[sales]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532120" y="4087368"/>
            <a:ext cx="5882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Personal branding sales, link WhatsApp dengan kode atribusi, booking test drive.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5212080"/>
            <a:ext cx="11094415" cy="731520"/>
          </a:xfrm>
          <a:prstGeom prst="roundRect">
            <a:avLst>
              <a:gd name="adj" fmla="val 8750"/>
            </a:avLst>
          </a:prstGeom>
          <a:solidFill>
            <a:srgbClr val="FBEFEF"/>
          </a:solidFill>
          <a:ln/>
          <a:effectLst>
            <a:outerShdw sx="100000" sy="100000" kx="0" ky="0" algn="bl" rotWithShape="0" blurRad="88900" dist="38100" dir="5400000">
              <a:srgbClr val="1F3864">
                <a:alpha val="12000"/>
              </a:srgbClr>
            </a:outerShdw>
          </a:effectLst>
        </p:spPr>
      </p:sp>
      <p:pic>
        <p:nvPicPr>
          <p:cNvPr id="23" name="Image 0" descr="/home/claude/icons/lock_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385816"/>
            <a:ext cx="384048" cy="384048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280160" y="5212080"/>
            <a:ext cx="101800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2B2B"/>
                </a:solidFill>
              </a:rPr>
              <a:t>Sumber kebenaran tunggal untuk harga, dan atribusi lead yang dikunci di sisi server — tidak dapat dimanipulasi pengunjung.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Winamus  |  PT Winandi Multi Solusi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9C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PEMAHAMAN KEBUTUHAN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Setiap Gap Memiliki Jalan Penyelesaian yang Konkret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7982712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Aspek Gap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Pendekatan yang Diusulkan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3864"/>
                          </a:solidFill>
                        </a:rPr>
                        <a:t>Website Cabang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</a:rPr>
                        <a:t>Halaman per cabang dengan harga &amp; promo tersinkron otomatis dari sistem pusat.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3864"/>
                          </a:solidFill>
                        </a:rPr>
                        <a:t>Website Wiraniaga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</a:rPr>
                        <a:t>Halaman sales via page builder dari template terkurasi, komponen dibatasi peran.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3864"/>
                          </a:solidFill>
                        </a:rPr>
                        <a:t>Keamanan (MFA)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</a:rPr>
                        <a:t>RBAC &amp; password policy sejak Fase 1; MFA wajib seluruh akun pada Fase 2.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3864"/>
                          </a:solidFill>
                        </a:rPr>
                        <a:t>Cloud &amp; Hosting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</a:rPr>
                        <a:t>Migrasi bertahap ke hosting ber-ISO27001, dengan WAF dan SSL/TLS penuh.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3864"/>
                          </a:solidFill>
                        </a:rPr>
                        <a:t>Monitoring Lifecycle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</a:rPr>
                        <a:t>Audit log, prosedur deaktivasi akun, dan self-assessment berkala.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Winamus  |  PT Winandi Multi Solusi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9C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BUKTI KAPASITAS TEKNIS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Proof-of-Concept Sudah Berjalan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38912" y="1673352"/>
            <a:ext cx="5385816" cy="2663521"/>
          </a:xfrm>
          <a:prstGeom prst="roundRect">
            <a:avLst>
              <a:gd name="adj" fmla="val 24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F3864">
                <a:alpha val="12000"/>
              </a:srgbClr>
            </a:outerShdw>
          </a:effectLst>
        </p:spPr>
      </p:sp>
      <p:pic>
        <p:nvPicPr>
          <p:cNvPr id="5" name="Image 0" descr="/home/claude/assets/shot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5166360" cy="244406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83080"/>
            <a:ext cx="5166360" cy="244406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38912" y="4391737"/>
            <a:ext cx="5385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3333"/>
                </a:solidFill>
              </a:rPr>
              <a:t>Dashboard analitik: leads, konversi, performa cabang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971032" y="1673352"/>
            <a:ext cx="5385816" cy="2662379"/>
          </a:xfrm>
          <a:prstGeom prst="roundRect">
            <a:avLst>
              <a:gd name="adj" fmla="val 2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F3864">
                <a:alpha val="12000"/>
              </a:srgbClr>
            </a:outerShdw>
          </a:effectLst>
        </p:spPr>
      </p:sp>
      <p:pic>
        <p:nvPicPr>
          <p:cNvPr id="9" name="Image 1" descr="/home/claude/assets/shot_pagebuild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783080"/>
            <a:ext cx="5166360" cy="2442923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080760" y="1783080"/>
            <a:ext cx="5166360" cy="2442923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971032" y="4390595"/>
            <a:ext cx="5385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3333"/>
                </a:solidFill>
              </a:rPr>
              <a:t>Page builder halaman sales berbasis template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548640" y="59893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7280"/>
                </a:solidFill>
              </a:rPr>
              <a:t>Tersedia untuk didemonstrasikan secara langsung pada sesi ini — POC ini adalah bukti konsep, bukan deliverable produksi final.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Winamus  |  PT Winandi Multi Solusi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9C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PENDEKATAN TEKNIS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Keamanan &amp; Kepatuhan: Bertahap, Bukan Ditunda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29000" cy="4206240"/>
          </a:xfrm>
          <a:prstGeom prst="roundRect">
            <a:avLst>
              <a:gd name="adj" fmla="val 1867"/>
            </a:avLst>
          </a:prstGeom>
          <a:solidFill>
            <a:srgbClr val="F7F8FA"/>
          </a:solidFill>
          <a:ln/>
          <a:effectLst>
            <a:outerShdw sx="100000" sy="100000" kx="0" ky="0" algn="bl" rotWithShape="0" blurRad="88900" dist="38100" dir="5400000">
              <a:srgbClr val="1F3864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2039112"/>
            <a:ext cx="2916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C2B2B"/>
                </a:solidFill>
              </a:rPr>
              <a:t>FASE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350008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864"/>
                </a:solidFill>
              </a:rPr>
              <a:t>Baseline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04672" y="3017520"/>
            <a:ext cx="2916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PostgreSQL &amp; RBAC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4672" y="3675888"/>
            <a:ext cx="2916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Password policy SOP TAM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" y="4334256"/>
            <a:ext cx="2916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Rate limiting &amp; anti-spam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4672" y="4992624"/>
            <a:ext cx="2916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Consent &amp; privacy policy (UU PDP)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24528" y="1783080"/>
            <a:ext cx="3429000" cy="4206240"/>
          </a:xfrm>
          <a:prstGeom prst="roundRect">
            <a:avLst>
              <a:gd name="adj" fmla="val 1867"/>
            </a:avLst>
          </a:prstGeom>
          <a:solidFill>
            <a:srgbClr val="1F3864"/>
          </a:solidFill>
          <a:ln/>
          <a:effectLst>
            <a:outerShdw sx="100000" sy="100000" kx="0" ky="0" algn="bl" rotWithShape="0" blurRad="88900" dist="38100" dir="5400000">
              <a:srgbClr val="1F3864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80560" y="2039112"/>
            <a:ext cx="2916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</a:rPr>
              <a:t>FASE 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80560" y="2350008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Hardening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480560" y="3017520"/>
            <a:ext cx="2916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D9E2F0"/>
                </a:solidFill>
              </a:rPr>
              <a:t>MFA wajib seluruh akun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80560" y="3675888"/>
            <a:ext cx="2916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D9E2F0"/>
                </a:solidFill>
              </a:rPr>
              <a:t>WAF (Cloudflare)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480560" y="4334256"/>
            <a:ext cx="2916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D9E2F0"/>
                </a:solidFill>
              </a:rPr>
              <a:t>Enkripsi data sensitif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480560" y="4992624"/>
            <a:ext cx="2916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D9E2F0"/>
                </a:solidFill>
              </a:rPr>
              <a:t>Migrasi hosting ISO27001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900416" y="1783080"/>
            <a:ext cx="3429000" cy="4206240"/>
          </a:xfrm>
          <a:prstGeom prst="roundRect">
            <a:avLst>
              <a:gd name="adj" fmla="val 1867"/>
            </a:avLst>
          </a:prstGeom>
          <a:solidFill>
            <a:srgbClr val="F7F8FA"/>
          </a:solidFill>
          <a:ln/>
          <a:effectLst>
            <a:outerShdw sx="100000" sy="100000" kx="0" ky="0" algn="bl" rotWithShape="0" blurRad="88900" dist="38100" dir="5400000">
              <a:srgbClr val="1F3864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156448" y="2039112"/>
            <a:ext cx="2916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C2B2B"/>
                </a:solidFill>
              </a:rPr>
              <a:t>FASE 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56448" y="2350008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864"/>
                </a:solidFill>
              </a:rPr>
              <a:t>Validasi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156448" y="3017520"/>
            <a:ext cx="2916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Pen testing eksternal independen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156448" y="3675888"/>
            <a:ext cx="2916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Laporan audit sebagai bukti TAM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156448" y="4334256"/>
            <a:ext cx="2916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Prosedur respons insiden 24 jam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Winamus  |  PT Winandi Multi Solusi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9C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PENDEKATAN TEKNIS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Integrasi dengan Sistem Existing &amp; Stack Teknologi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12080" cy="4206240"/>
          </a:xfrm>
          <a:prstGeom prst="roundRect">
            <a:avLst>
              <a:gd name="adj" fmla="val 1522"/>
            </a:avLst>
          </a:prstGeom>
          <a:solidFill>
            <a:srgbClr val="F7F8FA"/>
          </a:solidFill>
          <a:ln/>
          <a:effectLst>
            <a:outerShdw sx="100000" sy="100000" kx="0" ky="0" algn="bl" rotWithShape="0" blurRad="88900" dist="38100" dir="5400000">
              <a:srgbClr val="1F3864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03911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</a:rPr>
              <a:t>Integrasi, Bukan Menggantikan</a:t>
            </a:r>
            <a:endParaRPr lang="en-US" sz="1600" dirty="0"/>
          </a:p>
        </p:txBody>
      </p:sp>
      <p:pic>
        <p:nvPicPr>
          <p:cNvPr id="6" name="Image 0" descr="/home/claude/icons/plug_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6517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2596896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</a:rPr>
              <a:t>Webhook automation — tetap menjadi router lead</a:t>
            </a:r>
            <a:endParaRPr lang="en-US" sz="1250" dirty="0"/>
          </a:p>
        </p:txBody>
      </p:sp>
      <p:pic>
        <p:nvPicPr>
          <p:cNvPr id="8" name="Image 1" descr="/home/claude/icons/database_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364992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5880" y="3310128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</a:rPr>
              <a:t>CRM existing — tujuan akhir penyimpanan lead</a:t>
            </a:r>
            <a:endParaRPr lang="en-US" sz="1250" dirty="0"/>
          </a:p>
        </p:txBody>
      </p:sp>
      <p:pic>
        <p:nvPicPr>
          <p:cNvPr id="10" name="Image 2" descr="/home/claude/icons/whatsapp_r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078224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25880" y="402336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</a:rPr>
              <a:t>WhatsApp WABA — notifikasi tetap berjalan</a:t>
            </a:r>
            <a:endParaRPr lang="en-US" sz="1250" dirty="0"/>
          </a:p>
        </p:txBody>
      </p:sp>
      <p:pic>
        <p:nvPicPr>
          <p:cNvPr id="12" name="Image 3" descr="/home/claude/icons/server_r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791456"/>
            <a:ext cx="365760" cy="3657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325880" y="473659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</a:rPr>
              <a:t>CDN aset existing — sumber media pada masa transisi</a:t>
            </a:r>
            <a:endParaRPr lang="en-US" sz="1250" dirty="0"/>
          </a:p>
        </p:txBody>
      </p:sp>
      <p:sp>
        <p:nvSpPr>
          <p:cNvPr id="14" name="Shape 8"/>
          <p:cNvSpPr/>
          <p:nvPr/>
        </p:nvSpPr>
        <p:spPr>
          <a:xfrm>
            <a:off x="6080760" y="1783080"/>
            <a:ext cx="5562295" cy="4206240"/>
          </a:xfrm>
          <a:prstGeom prst="roundRect">
            <a:avLst>
              <a:gd name="adj" fmla="val 1522"/>
            </a:avLst>
          </a:prstGeom>
          <a:solidFill>
            <a:srgbClr val="F7F8FA"/>
          </a:solidFill>
          <a:ln/>
          <a:effectLst>
            <a:outerShdw sx="100000" sy="100000" kx="0" ky="0" algn="bl" rotWithShape="0" blurRad="88900" dist="38100" dir="5400000">
              <a:srgbClr val="1F3864">
                <a:alpha val="12000"/>
              </a:srgbClr>
            </a:outerShdw>
          </a:effectLst>
        </p:spPr>
      </p:sp>
      <p:sp>
        <p:nvSpPr>
          <p:cNvPr id="15" name="Text 9"/>
          <p:cNvSpPr/>
          <p:nvPr/>
        </p:nvSpPr>
        <p:spPr>
          <a:xfrm>
            <a:off x="6355080" y="2039112"/>
            <a:ext cx="5013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</a:rPr>
              <a:t>Stack Teknologi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6355080" y="2651760"/>
            <a:ext cx="5013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C2B2B"/>
                </a:solidFill>
              </a:rPr>
              <a:t>Frontend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6355080" y="2944368"/>
            <a:ext cx="5013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</a:rPr>
              <a:t>Next.js (SSR/ISR untuk halaman publik)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6355080" y="3456432"/>
            <a:ext cx="5013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C2B2B"/>
                </a:solidFill>
              </a:rPr>
              <a:t>Basis Data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6355080" y="3749040"/>
            <a:ext cx="5013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</a:rPr>
              <a:t>PostgreSQL sejak Fase 1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6355080" y="4261104"/>
            <a:ext cx="5013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C2B2B"/>
                </a:solidFill>
              </a:rPr>
              <a:t>Hosting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6355080" y="4553712"/>
            <a:ext cx="5013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</a:rPr>
              <a:t>Cloud ber-ISO27001 + Cloudflare WAF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6355080" y="5065776"/>
            <a:ext cx="5013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C2B2B"/>
                </a:solidFill>
              </a:rPr>
              <a:t>Autentikasi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6355080" y="5358384"/>
            <a:ext cx="5013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</a:rPr>
              <a:t>MFA &amp; RBAC granular terkelola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Winamus  |  PT Winandi Multi Solusi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9C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Minggu — MVP Live pada Minggu ke-8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88720" y="3291840"/>
            <a:ext cx="9539935" cy="0"/>
          </a:xfrm>
          <a:prstGeom prst="line">
            <a:avLst/>
          </a:prstGeom>
          <a:noFill/>
          <a:ln w="38100">
            <a:solidFill>
              <a:srgbClr val="C7D0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2416" y="3145536"/>
            <a:ext cx="292608" cy="292608"/>
          </a:xfrm>
          <a:prstGeom prst="ellipse">
            <a:avLst/>
          </a:prstGeom>
          <a:solidFill>
            <a:srgbClr val="1F386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" y="1874520"/>
            <a:ext cx="2103120" cy="1051560"/>
          </a:xfrm>
          <a:prstGeom prst="roundRect">
            <a:avLst>
              <a:gd name="adj" fmla="val 6087"/>
            </a:avLst>
          </a:prstGeom>
          <a:solidFill>
            <a:srgbClr val="F7F8FA"/>
          </a:solidFill>
          <a:ln/>
          <a:effectLst>
            <a:outerShdw sx="100000" sy="100000" kx="0" ky="0" algn="bl" rotWithShape="0" blurRad="88900" dist="38100" dir="5400000">
              <a:srgbClr val="1F3864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37160" y="19659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Fase 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82880" y="22860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Requirement &amp;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desain final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7160" y="35844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Minggu 2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67530" y="3090672"/>
            <a:ext cx="402336" cy="402336"/>
          </a:xfrm>
          <a:prstGeom prst="ellipse">
            <a:avLst/>
          </a:prstGeom>
          <a:solidFill>
            <a:srgbClr val="9C2B2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17138" y="1874520"/>
            <a:ext cx="2103120" cy="1051560"/>
          </a:xfrm>
          <a:prstGeom prst="roundRect">
            <a:avLst>
              <a:gd name="adj" fmla="val 6087"/>
            </a:avLst>
          </a:prstGeom>
          <a:solidFill>
            <a:srgbClr val="FBEFEF"/>
          </a:solidFill>
          <a:ln/>
          <a:effectLst>
            <a:outerShdw sx="100000" sy="100000" kx="0" ky="0" algn="bl" rotWithShape="0" blurRad="88900" dist="38100" dir="5400000">
              <a:srgbClr val="1F3864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17138" y="19659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2B2B"/>
                </a:solidFill>
              </a:rPr>
              <a:t>Fase 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62858" y="22860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MVP go-live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17138" y="35844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2B2B"/>
                </a:solidFill>
              </a:rPr>
              <a:t>Minggu 8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402373" y="3145536"/>
            <a:ext cx="292608" cy="292608"/>
          </a:xfrm>
          <a:prstGeom prst="ellipse">
            <a:avLst/>
          </a:prstGeom>
          <a:solidFill>
            <a:srgbClr val="1F386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97117" y="1874520"/>
            <a:ext cx="2103120" cy="1051560"/>
          </a:xfrm>
          <a:prstGeom prst="roundRect">
            <a:avLst>
              <a:gd name="adj" fmla="val 6087"/>
            </a:avLst>
          </a:prstGeom>
          <a:solidFill>
            <a:srgbClr val="F7F8FA"/>
          </a:solidFill>
          <a:ln/>
          <a:effectLst>
            <a:outerShdw sx="100000" sy="100000" kx="0" ky="0" algn="bl" rotWithShape="0" blurRad="88900" dist="38100" dir="5400000">
              <a:srgbClr val="1F3864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97117" y="19659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Fase 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42837" y="22860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Governance &amp;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hardening aktif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97117" y="35844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Minggu 14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0582351" y="3145536"/>
            <a:ext cx="292608" cy="292608"/>
          </a:xfrm>
          <a:prstGeom prst="ellipse">
            <a:avLst/>
          </a:prstGeom>
          <a:solidFill>
            <a:srgbClr val="1F386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77095" y="1874520"/>
            <a:ext cx="2103120" cy="1051560"/>
          </a:xfrm>
          <a:prstGeom prst="roundRect">
            <a:avLst>
              <a:gd name="adj" fmla="val 6087"/>
            </a:avLst>
          </a:prstGeom>
          <a:solidFill>
            <a:srgbClr val="F7F8FA"/>
          </a:solidFill>
          <a:ln/>
          <a:effectLst>
            <a:outerShdw sx="100000" sy="100000" kx="0" ky="0" algn="bl" rotWithShape="0" blurRad="88900" dist="38100" dir="5400000">
              <a:srgbClr val="1F3864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677095" y="19659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Fase 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722815" y="22860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Validasi &amp;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compliance report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77095" y="35844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Minggu 18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4864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7280"/>
                </a:solidFill>
              </a:rPr>
              <a:t>Timeline bersifat indikatif, dapat disesuaikan berdasarkan ketersediaan tim Nasmoco untuk review &amp; UAT di setiap fase.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Winamus  |  PT Winandi Multi Solusi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9C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RUANG LINGKUP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Cakupan Utama per Fase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06040" cy="4206240"/>
          </a:xfrm>
          <a:prstGeom prst="roundRect">
            <a:avLst>
              <a:gd name="adj" fmla="val 2456"/>
            </a:avLst>
          </a:prstGeom>
          <a:solidFill>
            <a:srgbClr val="F7F8FA"/>
          </a:solidFill>
          <a:ln/>
          <a:effectLst>
            <a:outerShdw sx="100000" sy="100000" kx="0" ky="0" algn="bl" rotWithShape="0" blurRad="88900" dist="38100" dir="5400000">
              <a:srgbClr val="1F386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65960"/>
            <a:ext cx="2240280" cy="411480"/>
          </a:xfrm>
          <a:prstGeom prst="roundRect">
            <a:avLst>
              <a:gd name="adj" fmla="val 13333"/>
            </a:avLst>
          </a:prstGeom>
          <a:solidFill>
            <a:srgbClr val="1F386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659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Fase 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" y="2560320"/>
            <a:ext cx="2203704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</a:rPr>
              <a:t>Finalisasi requirement</a:t>
            </a:r>
            <a:endParaRPr lang="en-US" sz="110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</a:rPr>
              <a:t>Validasi arsitektur</a:t>
            </a:r>
            <a:endParaRPr lang="en-US" sz="110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</a:rPr>
              <a:t>Desain UI/UX final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783080"/>
            <a:ext cx="2606040" cy="4206240"/>
          </a:xfrm>
          <a:prstGeom prst="roundRect">
            <a:avLst>
              <a:gd name="adj" fmla="val 2456"/>
            </a:avLst>
          </a:prstGeom>
          <a:solidFill>
            <a:srgbClr val="F7F8FA"/>
          </a:solidFill>
          <a:ln/>
          <a:effectLst>
            <a:outerShdw sx="100000" sy="100000" kx="0" ky="0" algn="bl" rotWithShape="0" blurRad="88900" dist="38100" dir="5400000">
              <a:srgbClr val="1F3864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66160" y="1965960"/>
            <a:ext cx="2240280" cy="411480"/>
          </a:xfrm>
          <a:prstGeom prst="roundRect">
            <a:avLst>
              <a:gd name="adj" fmla="val 13333"/>
            </a:avLst>
          </a:prstGeom>
          <a:solidFill>
            <a:srgbClr val="1F3864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19659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Fase 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84448" y="2560320"/>
            <a:ext cx="2203704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</a:rPr>
              <a:t>Migrasi ke PostgreSQL</a:t>
            </a:r>
            <a:endParaRPr lang="en-US" sz="110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</a:rPr>
              <a:t>Harga terpusat &amp; page builder</a:t>
            </a:r>
            <a:endParaRPr lang="en-US" sz="110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</a:rPr>
              <a:t>Atribusi lead anti-hijack</a:t>
            </a:r>
            <a:endParaRPr lang="en-US" sz="110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</a:rPr>
              <a:t>Integrasi CRM/WABA</a:t>
            </a:r>
            <a:endParaRPr lang="en-US" sz="110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</a:rPr>
              <a:t>SEO dasar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783080"/>
            <a:ext cx="2606040" cy="4206240"/>
          </a:xfrm>
          <a:prstGeom prst="roundRect">
            <a:avLst>
              <a:gd name="adj" fmla="val 2456"/>
            </a:avLst>
          </a:prstGeom>
          <a:solidFill>
            <a:srgbClr val="F7F8FA"/>
          </a:solidFill>
          <a:ln/>
          <a:effectLst>
            <a:outerShdw sx="100000" sy="100000" kx="0" ky="0" algn="bl" rotWithShape="0" blurRad="88900" dist="38100" dir="5400000">
              <a:srgbClr val="1F3864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0" y="1965960"/>
            <a:ext cx="2240280" cy="411480"/>
          </a:xfrm>
          <a:prstGeom prst="roundRect">
            <a:avLst>
              <a:gd name="adj" fmla="val 13333"/>
            </a:avLst>
          </a:prstGeom>
          <a:solidFill>
            <a:srgbClr val="1F3864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9659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Fase 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19088" y="2560320"/>
            <a:ext cx="2203704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</a:rPr>
              <a:t>Approval workflow berjenjang</a:t>
            </a:r>
            <a:endParaRPr lang="en-US" sz="110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</a:rPr>
              <a:t>Brand lock &amp; compliance check</a:t>
            </a:r>
            <a:endParaRPr lang="en-US" sz="110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</a:rPr>
              <a:t>Kill switch &amp; audit log</a:t>
            </a:r>
            <a:endParaRPr lang="en-US" sz="110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</a:rPr>
              <a:t>MFA &amp; WAF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52560" y="1783080"/>
            <a:ext cx="2606040" cy="4206240"/>
          </a:xfrm>
          <a:prstGeom prst="roundRect">
            <a:avLst>
              <a:gd name="adj" fmla="val 2456"/>
            </a:avLst>
          </a:prstGeom>
          <a:solidFill>
            <a:srgbClr val="F7F8FA"/>
          </a:solidFill>
          <a:ln/>
          <a:effectLst>
            <a:outerShdw sx="100000" sy="100000" kx="0" ky="0" algn="bl" rotWithShape="0" blurRad="88900" dist="38100" dir="5400000">
              <a:srgbClr val="1F3864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235440" y="1965960"/>
            <a:ext cx="2240280" cy="411480"/>
          </a:xfrm>
          <a:prstGeom prst="roundRect">
            <a:avLst>
              <a:gd name="adj" fmla="val 13333"/>
            </a:avLst>
          </a:prstGeom>
          <a:solidFill>
            <a:srgbClr val="1F3864"/>
          </a:solidFill>
          <a:ln/>
        </p:spPr>
      </p:sp>
      <p:sp>
        <p:nvSpPr>
          <p:cNvPr id="18" name="Text 16"/>
          <p:cNvSpPr/>
          <p:nvPr/>
        </p:nvSpPr>
        <p:spPr>
          <a:xfrm>
            <a:off x="9235440" y="19659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Fase 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253728" y="2560320"/>
            <a:ext cx="2203704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</a:rPr>
              <a:t>GEO &amp; SEO lokal 22 cabang</a:t>
            </a:r>
            <a:endParaRPr lang="en-US" sz="110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</a:rPr>
              <a:t>Optimasi Core Web Vitals</a:t>
            </a:r>
            <a:endParaRPr lang="en-US" sz="110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</a:rPr>
              <a:t>Pen testing eksternal</a:t>
            </a:r>
            <a:endParaRPr lang="en-US" sz="110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</a:rPr>
              <a:t>Dokumentasi &amp; training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Winamus  |  PT Winandi Multi Solusi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9C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ESTIMASI BIAYA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Estimasi Investasi Tahun Pertama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83080"/>
          <a:ext cx="64008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223760" y="1783080"/>
            <a:ext cx="4419295" cy="1874520"/>
          </a:xfrm>
          <a:prstGeom prst="roundRect">
            <a:avLst>
              <a:gd name="adj" fmla="val 3415"/>
            </a:avLst>
          </a:prstGeom>
          <a:solidFill>
            <a:srgbClr val="F7F8FA"/>
          </a:solidFill>
          <a:ln/>
          <a:effectLst>
            <a:outerShdw sx="100000" sy="100000" kx="0" ky="0" algn="bl" rotWithShape="0" blurRad="88900" dist="38100" dir="5400000">
              <a:srgbClr val="1F3864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452360" y="1920240"/>
            <a:ext cx="39620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</a:rPr>
              <a:t>Total Pengembangan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</a:rPr>
              <a:t>(Fase 0–3 + pen testing)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452360" y="2514600"/>
            <a:ext cx="3962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</a:rPr>
              <a:t>Rp86.100.000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7223760" y="3794760"/>
            <a:ext cx="4419295" cy="914400"/>
          </a:xfrm>
          <a:prstGeom prst="roundRect">
            <a:avLst>
              <a:gd name="adj" fmla="val 7000"/>
            </a:avLst>
          </a:prstGeom>
          <a:solidFill>
            <a:srgbClr val="F7F8FA"/>
          </a:solidFill>
          <a:ln/>
          <a:effectLst>
            <a:outerShdw sx="100000" sy="100000" kx="0" ky="0" algn="bl" rotWithShape="0" blurRad="88900" dist="38100" dir="5400000">
              <a:srgbClr val="1F3864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452360" y="3886200"/>
            <a:ext cx="3962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Pemeliharaan / Tahun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452360" y="4160520"/>
            <a:ext cx="3962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864"/>
                </a:solidFill>
              </a:rPr>
              <a:t>Rp43.200.000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7223760" y="4846320"/>
            <a:ext cx="4419295" cy="1051560"/>
          </a:xfrm>
          <a:prstGeom prst="roundRect">
            <a:avLst>
              <a:gd name="adj" fmla="val 6087"/>
            </a:avLst>
          </a:prstGeom>
          <a:solidFill>
            <a:srgbClr val="9C2B2B"/>
          </a:solidFill>
          <a:ln/>
          <a:effectLst>
            <a:outerShdw sx="100000" sy="100000" kx="0" ky="0" algn="bl" rotWithShape="0" blurRad="88900" dist="38100" dir="5400000">
              <a:srgbClr val="1F3864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452360" y="4956048"/>
            <a:ext cx="3962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D9D9"/>
                </a:solidFill>
              </a:rPr>
              <a:t>Total Investasi Tahun Pertama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452360" y="5230368"/>
            <a:ext cx="3962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Rp129.300.000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548640" y="60350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</a:rPr>
              <a:t>Estimasi awal berdasarkan ruang lingkup yang dipahami saat ini — terbuka untuk dibahas dan disesuaikan bersama.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Winamus  |  PT Winandi Multi Solusi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9C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PASCA-PELUNCURAN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Dukungan &amp; Service Level Agreement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690872"/>
                <a:gridCol w="2286000"/>
                <a:gridCol w="228600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Prioritas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Contoh Kasus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Target Respons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Target Resolusi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9C2B2B"/>
                          </a:solidFill>
                        </a:rPr>
                        <a:t>Kritis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</a:rPr>
                        <a:t>Sistem down, lead gagal tercatat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</a:rPr>
                        <a:t>≤ 2 jam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</a:rPr>
                        <a:t>≤ 24 jam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9C2B2B"/>
                          </a:solidFill>
                        </a:rPr>
                        <a:t>Tinggi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</a:rPr>
                        <a:t>Fitur utama tidak berfungsi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</a:rPr>
                        <a:t>≤ 8 jam kerja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</a:rPr>
                        <a:t>≤ 3 hari kerja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9C2B2B"/>
                          </a:solidFill>
                        </a:rPr>
                        <a:t>Menengah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</a:rPr>
                        <a:t>Bug tampilan, konten non-kritis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</a:rPr>
                        <a:t>≤ 1 hari kerja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</a:rPr>
                        <a:t>≤ 5 hari kerja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2062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Dukungan tercakup dalam biaya pemeliharaan bulanan dengan batas jam yang disepakati. Eskalasi prioritas kritis langsung ke Project Manager.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Winamus  |  PT Winandi Multi Solusi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9C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TENTANG VENDOR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 &amp; Pendekatan Kerja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4572000" cy="4114800"/>
          </a:xfrm>
          <a:prstGeom prst="roundRect">
            <a:avLst>
              <a:gd name="adj" fmla="val 155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88900" dist="38100" dir="5400000">
              <a:srgbClr val="1F386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331720" y="2148840"/>
            <a:ext cx="1005840" cy="1005840"/>
          </a:xfrm>
          <a:prstGeom prst="ellipse">
            <a:avLst/>
          </a:prstGeom>
          <a:solidFill>
            <a:srgbClr val="9C2B2B"/>
          </a:solidFill>
          <a:ln/>
        </p:spPr>
      </p:sp>
      <p:sp>
        <p:nvSpPr>
          <p:cNvPr id="6" name="Text 4"/>
          <p:cNvSpPr/>
          <p:nvPr/>
        </p:nvSpPr>
        <p:spPr>
          <a:xfrm>
            <a:off x="2331720" y="21488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AW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32918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Aris Winandi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Owner &amp; Project Manager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103120" y="4114800"/>
            <a:ext cx="1463040" cy="0"/>
          </a:xfrm>
          <a:prstGeom prst="line">
            <a:avLst/>
          </a:prstGeom>
          <a:noFill/>
          <a:ln w="12700">
            <a:solidFill>
              <a:srgbClr val="3C5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2976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Winamus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46177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</a:rPr>
              <a:t>PT Winandi Multi Solusi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</a:rPr>
              <a:t>winamus.com</a:t>
            </a:r>
            <a:endParaRPr lang="en-US" sz="1150" dirty="0"/>
          </a:p>
        </p:txBody>
      </p:sp>
      <p:pic>
        <p:nvPicPr>
          <p:cNvPr id="12" name="Image 0" descr="/home/claude/icons/handshake_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828800"/>
            <a:ext cx="411480" cy="4114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080760" y="1783080"/>
            <a:ext cx="5562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</a:rPr>
              <a:t>Delivery Langsung oleh PM Teknis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080760" y="2167128"/>
            <a:ext cx="5562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Komunikasi langsung dengan pengambil keputusan teknis, bukan account manager perantara.</a:t>
            </a:r>
            <a:endParaRPr lang="en-US" sz="1200" dirty="0"/>
          </a:p>
        </p:txBody>
      </p:sp>
      <p:pic>
        <p:nvPicPr>
          <p:cNvPr id="15" name="Image 1" descr="/home/claude/icons/cogs_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3200400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080760" y="3154680"/>
            <a:ext cx="5562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</a:rPr>
              <a:t>Tim Kecil, Komunikasi Cepat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6080760" y="3538728"/>
            <a:ext cx="5562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Siklus pengembangan iteratif per fase dengan transparansi pada setiap trade-off.</a:t>
            </a:r>
            <a:endParaRPr lang="en-US" sz="1200" dirty="0"/>
          </a:p>
        </p:txBody>
      </p:sp>
      <p:pic>
        <p:nvPicPr>
          <p:cNvPr id="18" name="Image 2" descr="/home/claude/icons/shield_r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4572000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080760" y="4526280"/>
            <a:ext cx="5562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</a:rPr>
              <a:t>Pengalaman Proyek Internasional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080760" y="4910328"/>
            <a:ext cx="5562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Menangani platform multi-tenant, CMS kustom, dan integrasi API, sebagian di bawah NDA.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Winamus  |  PT Winandi Multi Solusi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8C9"/>
                </a:solidFill>
              </a:rPr>
              <a:t>PENUTUP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Mari Diskusikan Langkah Selanjutnya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468880"/>
            <a:ext cx="457200" cy="457200"/>
          </a:xfrm>
          <a:prstGeom prst="ellipse">
            <a:avLst/>
          </a:prstGeom>
          <a:solidFill>
            <a:srgbClr val="9C2B2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2450592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Diskusi &amp; penyesuaian ruang lingkup bersama tim Nasmoco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182112"/>
            <a:ext cx="457200" cy="457200"/>
          </a:xfrm>
          <a:prstGeom prst="ellipse">
            <a:avLst/>
          </a:prstGeom>
          <a:solidFill>
            <a:srgbClr val="9C2B2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182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3163824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Finalisasi perjanjian kerja (SPK/kontrak)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895344"/>
            <a:ext cx="457200" cy="457200"/>
          </a:xfrm>
          <a:prstGeom prst="ellipse">
            <a:avLst/>
          </a:prstGeom>
          <a:solidFill>
            <a:srgbClr val="9C2B2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895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3877056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Kick-off Fase 0 — Discovery &amp; Desain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983480"/>
            <a:ext cx="11064240" cy="0"/>
          </a:xfrm>
          <a:prstGeom prst="line">
            <a:avLst/>
          </a:prstGeom>
          <a:noFill/>
          <a:ln w="12700">
            <a:solidFill>
              <a:srgbClr val="3C5A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52578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</a:rPr>
              <a:t>Aris Winandi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</a:rPr>
              <a:t>Owner &amp; Project Manager — Winamus | PT Winandi Multi Solusi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</a:rPr>
              <a:t>winamus.com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6263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8C9"/>
                </a:solidFill>
              </a:rPr>
              <a:t>Terima kasih.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Proposal Platform Website Terpusat Nasmoco</dc:title>
  <dc:subject>PptxGenJS Presentation</dc:subject>
  <dc:creator>Winamus</dc:creator>
  <cp:lastModifiedBy>Winamus</cp:lastModifiedBy>
  <cp:revision>1</cp:revision>
  <dcterms:created xsi:type="dcterms:W3CDTF">2026-06-29T01:21:13Z</dcterms:created>
  <dcterms:modified xsi:type="dcterms:W3CDTF">2026-06-29T01:21:13Z</dcterms:modified>
</cp:coreProperties>
</file>